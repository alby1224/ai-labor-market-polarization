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Space Grotesk Medium"/>
      <p:regular r:id="rId27"/>
      <p:bold r:id="rId28"/>
    </p:embeddedFont>
    <p:embeddedFont>
      <p:font typeface="Space Grotesk SemiBold"/>
      <p:regular r:id="rId29"/>
      <p:bold r:id="rId30"/>
    </p:embeddedFont>
    <p:embeddedFont>
      <p:font typeface="Inter Medium"/>
      <p:regular r:id="rId31"/>
      <p:bold r:id="rId32"/>
      <p:italic r:id="rId33"/>
      <p:boldItalic r:id="rId34"/>
    </p:embeddedFont>
    <p:embeddedFont>
      <p:font typeface="Space Grotesk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D94116-61E1-4C09-A7A8-CD852904DF3C}">
  <a:tblStyle styleId="{77D94116-61E1-4C09-A7A8-CD852904DF3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SpaceGroteskMedium-bold.fntdata"/><Relationship Id="rId27" Type="http://schemas.openxmlformats.org/officeDocument/2006/relationships/font" Target="fonts/SpaceGrotesk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SpaceGrotesk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regular.fntdata"/><Relationship Id="rId30" Type="http://schemas.openxmlformats.org/officeDocument/2006/relationships/font" Target="fonts/SpaceGroteskSemiBold-bold.fntdata"/><Relationship Id="rId11" Type="http://schemas.openxmlformats.org/officeDocument/2006/relationships/slide" Target="slides/slide5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4.xml"/><Relationship Id="rId32" Type="http://schemas.openxmlformats.org/officeDocument/2006/relationships/font" Target="fonts/InterMedium-bold.fntdata"/><Relationship Id="rId13" Type="http://schemas.openxmlformats.org/officeDocument/2006/relationships/slide" Target="slides/slide7.xml"/><Relationship Id="rId35" Type="http://schemas.openxmlformats.org/officeDocument/2006/relationships/font" Target="fonts/SpaceGrotesk-regular.fntdata"/><Relationship Id="rId12" Type="http://schemas.openxmlformats.org/officeDocument/2006/relationships/slide" Target="slides/slide6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SpaceGrotesk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54bbd2e5f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f54bbd2e5f_0_4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9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hyperlink" Target="https://www.kaggle.com/code/albertomergoni/social-research-mergoni" TargetMode="External"/><Relationship Id="rId5" Type="http://schemas.openxmlformats.org/officeDocument/2006/relationships/hyperlink" Target="https://www.kaggle.com/code/albertomergoni/social-research-mergoni-st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009923"/>
            <a:ext cx="900112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Polarization of Latent Skills in the </a:t>
            </a:r>
            <a:r>
              <a:rPr b="1" i="0" lang="en-US" sz="4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Labor Market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636615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Computational Social Research Approach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756562"/>
            <a:ext cx="8572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Mergoni Alberto VR542261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02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018325"/>
            <a:ext cx="11239499" cy="115191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76250" y="1826200"/>
            <a:ext cx="1123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traditional role of the "Data Scientist" is undergoing profound structural fragmentation due to the explosion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76250" y="2345688"/>
            <a:ext cx="1123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What was once a monolithic profession is dividing into hyper-specialized sub-fields.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48084" y="3256450"/>
            <a:ext cx="10174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Research Objective: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Uncover and categorize latent professional profiles within the AI labor market based on actual skills demanded by employers using a bottom-up, data-driven approach.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01800" y="4595500"/>
            <a:ext cx="1017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Move beyond a priori occupational classifications (bureaucratic lag).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51475" y="5056000"/>
            <a:ext cx="1017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Analyze socioeconomic nuances 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01800" y="5532850"/>
            <a:ext cx="10121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Contribute to sociological discourse on the future of work and high-cognitive labor polarization.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16050" y="4611862"/>
            <a:ext cx="10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16050" y="5032900"/>
            <a:ext cx="18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16050" y="5549217"/>
            <a:ext cx="10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Introduction: The Fragmented 'Data Scientist'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476250" y="1200150"/>
            <a:ext cx="11239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600200"/>
            <a:ext cx="54292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00200"/>
            <a:ext cx="542925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66775" y="1990725"/>
            <a:ext cx="488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Skill-Biased Technological Change</a:t>
            </a:r>
            <a:endParaRPr b="1">
              <a:solidFill>
                <a:srgbClr val="38BDF8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866775" y="2708168"/>
            <a:ext cx="4648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Building on Acemoglu &amp; Autor (2011), this study posits that technological progress does not disrupt labor uniformly.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813068"/>
            <a:ext cx="4648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disproportionately rewards workers with frontier analytical skills while penalizing routine tasks, generating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structural polarization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cognitive labor.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677025" y="1990725"/>
            <a:ext cx="488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Network Society Divide</a:t>
            </a:r>
            <a:endParaRPr b="1">
              <a:solidFill>
                <a:srgbClr val="38BDF8"/>
              </a:solidFill>
            </a:endParaRPr>
          </a:p>
        </p:txBody>
      </p:sp>
      <p:grpSp>
        <p:nvGrpSpPr>
          <p:cNvPr id="116" name="Google Shape;116;p15"/>
          <p:cNvGrpSpPr/>
          <p:nvPr/>
        </p:nvGrpSpPr>
        <p:grpSpPr>
          <a:xfrm>
            <a:off x="6676950" y="2708168"/>
            <a:ext cx="4648350" cy="2181450"/>
            <a:chOff x="6676950" y="2579450"/>
            <a:chExt cx="4648350" cy="2181450"/>
          </a:xfrm>
        </p:grpSpPr>
        <p:sp>
          <p:nvSpPr>
            <p:cNvPr id="117" name="Google Shape;117;p15"/>
            <p:cNvSpPr txBox="1"/>
            <p:nvPr/>
          </p:nvSpPr>
          <p:spPr>
            <a:xfrm>
              <a:off x="6676950" y="2579450"/>
              <a:ext cx="46482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Following Castells (2010), the transition creates a sharp divide:</a:t>
              </a:r>
              <a:endParaRPr/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6962700" y="3379550"/>
              <a:ext cx="43626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Technocratic Elite: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Govern technological infrastructure.</a:t>
              </a:r>
              <a:endParaRPr/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6962700" y="4160600"/>
              <a:ext cx="43626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Data Proletariat: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Execute ordinary data manipulation (bound to descriptive reporting).</a:t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6676950" y="3398600"/>
              <a:ext cx="10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▹</a:t>
              </a:r>
              <a:endParaRPr/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6676950" y="4179650"/>
              <a:ext cx="10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▹</a:t>
              </a:r>
              <a:endParaRPr/>
            </a:p>
          </p:txBody>
        </p:sp>
      </p:grpSp>
      <p:sp>
        <p:nvSpPr>
          <p:cNvPr id="122" name="Google Shape;122;p15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Theoretical Framework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476250" y="1200150"/>
            <a:ext cx="11239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476250" y="1789500"/>
            <a:ext cx="1123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Evaluating data validity when using secondary datasets is critical. This study contrasts two distinct sources</a:t>
            </a:r>
            <a:endParaRPr/>
          </a:p>
        </p:txBody>
      </p:sp>
      <p:graphicFrame>
        <p:nvGraphicFramePr>
          <p:cNvPr id="130" name="Google Shape;130;p16"/>
          <p:cNvGraphicFramePr/>
          <p:nvPr/>
        </p:nvGraphicFramePr>
        <p:xfrm>
          <a:off x="476250" y="2590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{77D94116-61E1-4C09-A7A8-CD852904DF3C}</a:tableStyleId>
              </a:tblPr>
              <a:tblGrid>
                <a:gridCol w="552450"/>
                <a:gridCol w="5456625"/>
                <a:gridCol w="5230425"/>
              </a:tblGrid>
              <a:tr h="74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8FAFC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Dataset A: </a:t>
                      </a:r>
                      <a:r>
                        <a:rPr b="0" lang="en-US" sz="1650">
                          <a:solidFill>
                            <a:srgbClr val="F8FAFC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LinkedIn Data Jobs 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8FAFC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Dataset B: AI Jobs Dataset 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74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Empirical sample of ~1,050 unique job postings.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Massive sample size of &gt;50,000 generated observations.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E1"/>
                    </a:solidFill>
                  </a:tcPr>
                </a:tc>
              </a:tr>
              <a:tr h="74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Scraped Jan-Apr 2026 (captures temporal volatility).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r>
                        <a:rPr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iscal year 2026.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E1"/>
                    </a:solidFill>
                  </a:tcPr>
                </a:tc>
              </a:tr>
              <a:tr h="74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Represents the chaotic, unstructured nature of human recruitment.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Highly structured, forward-looking map of the market.</a:t>
                      </a:r>
                      <a:endParaRPr>
                        <a:solidFill>
                          <a:srgbClr val="33415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E1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16"/>
          <p:cNvSpPr/>
          <p:nvPr/>
        </p:nvSpPr>
        <p:spPr>
          <a:xfrm>
            <a:off x="476250" y="3302198"/>
            <a:ext cx="5524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028700" y="3302198"/>
            <a:ext cx="545663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6485334" y="3302198"/>
            <a:ext cx="523041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476250" y="3967013"/>
            <a:ext cx="5524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1028700" y="3967013"/>
            <a:ext cx="545663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6485334" y="3967013"/>
            <a:ext cx="523041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76250" y="4631828"/>
            <a:ext cx="5524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1028700" y="4631828"/>
            <a:ext cx="545663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485334" y="4631828"/>
            <a:ext cx="523041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76250" y="5570934"/>
            <a:ext cx="5524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1028700" y="5570934"/>
            <a:ext cx="545663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485334" y="5570934"/>
            <a:ext cx="523041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5021312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219426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55461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55461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219426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5021312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Problem of Data Validity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476250" y="1200150"/>
            <a:ext cx="11239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600200"/>
            <a:ext cx="35559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600200"/>
            <a:ext cx="35559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1600200"/>
            <a:ext cx="355595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762000" y="2581275"/>
            <a:ext cx="31336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1. Data Cleaning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62000" y="3093823"/>
            <a:ext cx="2984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Standard NLP techniques applied to raw job description texts (tokenization, stop-word removal, lemmatization) to reduce noise.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603700" y="2581275"/>
            <a:ext cx="31336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2. TF-IDF Vectorization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603700" y="3093823"/>
            <a:ext cx="2984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Operationalizing qualitative text. Weighs the sociological importance of terms (e.g., "data" = low weight; "MLOps" = high weight).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445400" y="2581275"/>
            <a:ext cx="31336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3. K-Means Clustering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445400" y="3093823"/>
            <a:ext cx="2984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Unsupervised machine learning to discover latent skill groupings without a priori coding bias, determining optimal (k) via Elbow Method.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9621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3700" y="19621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5400" y="19621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Methodology: Computational Pipeline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476250" y="1200150"/>
            <a:ext cx="11239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/>
        </p:nvSpPr>
        <p:spPr>
          <a:xfrm>
            <a:off x="476250" y="433387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Methodological Critique via PCA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476250" y="1157287"/>
            <a:ext cx="112395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" name="Google Shape;176;p18"/>
          <p:cNvGrpSpPr/>
          <p:nvPr/>
        </p:nvGrpSpPr>
        <p:grpSpPr>
          <a:xfrm>
            <a:off x="447675" y="1920535"/>
            <a:ext cx="4219575" cy="4175329"/>
            <a:chOff x="447675" y="1333500"/>
            <a:chExt cx="4219575" cy="4762552"/>
          </a:xfrm>
        </p:grpSpPr>
        <p:sp>
          <p:nvSpPr>
            <p:cNvPr id="177" name="Google Shape;177;p18"/>
            <p:cNvSpPr txBox="1"/>
            <p:nvPr/>
          </p:nvSpPr>
          <p:spPr>
            <a:xfrm>
              <a:off x="476250" y="1333500"/>
              <a:ext cx="41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Exposing Synthetic Data</a:t>
              </a:r>
              <a:endParaRPr b="0" sz="22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476250" y="1857375"/>
              <a:ext cx="419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Principal Component Analysis (PCA) was used to geometrically validate cluster separation and expose artificial structures.</a:t>
              </a:r>
              <a:endParaRPr b="0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476250" y="3271550"/>
              <a:ext cx="4191000" cy="2824500"/>
            </a:xfrm>
            <a:prstGeom prst="roundRect">
              <a:avLst>
                <a:gd fmla="val 3529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0" name="Google Shape;180;p18"/>
            <p:cNvPicPr preferRelativeResize="0"/>
            <p:nvPr/>
          </p:nvPicPr>
          <p:blipFill rotWithShape="1">
            <a:blip r:embed="rId3">
              <a:alphaModFix/>
            </a:blip>
            <a:srcRect b="672" l="0" r="0" t="14250"/>
            <a:stretch/>
          </p:blipFill>
          <p:spPr>
            <a:xfrm>
              <a:off x="447675" y="3271552"/>
              <a:ext cx="57300" cy="282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18"/>
            <p:cNvSpPr txBox="1"/>
            <p:nvPr/>
          </p:nvSpPr>
          <p:spPr>
            <a:xfrm>
              <a:off x="714375" y="3095625"/>
              <a:ext cx="37149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Definitive Empirical Proof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3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"Dataset B is a synthetically generated LLM simulation, not an organic market reflection."</a:t>
              </a:r>
              <a:endParaRPr b="0" i="1" sz="13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PCA reveals fluid, overlapping boundaries in organic data vs. rigid, highly artificial boundaries in synthetic data.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2" name="Google Shape;182;p18"/>
          <p:cNvSpPr/>
          <p:nvPr/>
        </p:nvSpPr>
        <p:spPr>
          <a:xfrm>
            <a:off x="4953000" y="1333500"/>
            <a:ext cx="3286200" cy="4762500"/>
          </a:xfrm>
          <a:prstGeom prst="roundRect">
            <a:avLst>
              <a:gd fmla="val 4637" name="adj"/>
            </a:avLst>
          </a:prstGeom>
          <a:solidFill>
            <a:srgbClr val="0F172A">
              <a:alpha val="4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143500" y="1524000"/>
            <a:ext cx="290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Dataset A: Organic</a:t>
            </a:r>
            <a:endParaRPr b="0" sz="1600">
              <a:solidFill>
                <a:srgbClr val="38BDF8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pic>
        <p:nvPicPr>
          <p:cNvPr id="184" name="Google Shape;184;p18"/>
          <p:cNvPicPr preferRelativeResize="0"/>
          <p:nvPr/>
        </p:nvPicPr>
        <p:blipFill rotWithShape="1">
          <a:blip r:embed="rId4">
            <a:alphaModFix/>
          </a:blip>
          <a:srcRect b="50" l="0" r="0" t="40"/>
          <a:stretch/>
        </p:blipFill>
        <p:spPr>
          <a:xfrm>
            <a:off x="5095875" y="2047875"/>
            <a:ext cx="3000300" cy="17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5143500" y="4051986"/>
            <a:ext cx="2905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Fluid &amp; Amorphous</a:t>
            </a:r>
            <a:endParaRPr b="1" sz="12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Revealed overlapping clusters consistent with fluid human language and natural professional role overlap (e.g., Data Analyst vs. Data Engineer).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429625" y="1333500"/>
            <a:ext cx="3286200" cy="4762500"/>
          </a:xfrm>
          <a:prstGeom prst="roundRect">
            <a:avLst>
              <a:gd fmla="val 4637" name="adj"/>
            </a:avLst>
          </a:prstGeom>
          <a:solidFill>
            <a:srgbClr val="0F172A">
              <a:alpha val="4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620125" y="1524000"/>
            <a:ext cx="290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78B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Dataset B: Synthetic</a:t>
            </a:r>
            <a:endParaRPr b="0" sz="1600">
              <a:solidFill>
                <a:srgbClr val="A78BFA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pic>
        <p:nvPicPr>
          <p:cNvPr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1588" r="1588" t="0"/>
          <a:stretch/>
        </p:blipFill>
        <p:spPr>
          <a:xfrm>
            <a:off x="8572500" y="2047875"/>
            <a:ext cx="3000300" cy="17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8620125" y="4051986"/>
            <a:ext cx="2905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Perfect &amp; Rigid</a:t>
            </a:r>
            <a:endParaRPr b="1" sz="12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Produced geometrically perfect, parallel clusters ("perfect cigars"). Human language never produces such zero-variance artificial boundaries.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095500"/>
            <a:ext cx="552450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095500"/>
            <a:ext cx="552450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333875"/>
            <a:ext cx="552450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4333875"/>
            <a:ext cx="5524500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476250" y="1600200"/>
            <a:ext cx="10848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Dataset A segmented into five distinct sociological archetypes, reflecting the authentic complexity of tech recruitment.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62000" y="2419350"/>
            <a:ext cx="5200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Cluster 4: MLOps / AI Architect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62000" y="2828925"/>
            <a:ext cx="4953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market frontier. Focuses on 'scale pipelines', 'cloud', 'deployment'. High demand for engineering production infrastructure, not just building models.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477000" y="2419350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78BFA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Cluster 3: BI Analyst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477000" y="2828925"/>
            <a:ext cx="4953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traditional data core. Anchored to 'dashboards', 'SQL'. Legacy roles focused on descriptive business intelligence over predictive engineering.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62000" y="4657725"/>
            <a:ext cx="5200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4D399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Cluster 1: Applied Researcher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62000" y="5067300"/>
            <a:ext cx="4953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hybrid profile bridging academic research and business strategy with cutting-edge tools.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477000" y="4657725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BBF2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Clusters 0 &amp; 2: "Big Tech" Corporate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477000" y="5067300"/>
            <a:ext cx="4953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Characterized by specific corporate jargon and massive scale requirements (e.g., FAANG). Profiles defined by organizational culture.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Findings: The Organic Fragmentation 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476250" y="1200150"/>
            <a:ext cx="11239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Synthetic Simplification 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476250" y="1200150"/>
            <a:ext cx="112395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76250" y="1476375"/>
            <a:ext cx="5238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 applied to dataset B, the clusters collapsed to just three rigid categories: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7" name="Google Shape;217;p20"/>
          <p:cNvGrpSpPr/>
          <p:nvPr/>
        </p:nvGrpSpPr>
        <p:grpSpPr>
          <a:xfrm>
            <a:off x="476250" y="2143125"/>
            <a:ext cx="5238900" cy="1714650"/>
            <a:chOff x="476250" y="2143125"/>
            <a:chExt cx="5238900" cy="1714650"/>
          </a:xfrm>
        </p:grpSpPr>
        <p:sp>
          <p:nvSpPr>
            <p:cNvPr id="218" name="Google Shape;218;p20"/>
            <p:cNvSpPr/>
            <p:nvPr/>
          </p:nvSpPr>
          <p:spPr>
            <a:xfrm>
              <a:off x="476250" y="2143125"/>
              <a:ext cx="5238900" cy="476400"/>
            </a:xfrm>
            <a:prstGeom prst="roundRect">
              <a:avLst>
                <a:gd fmla="val 16000" name="adj"/>
              </a:avLst>
            </a:prstGeom>
            <a:solidFill>
              <a:srgbClr val="0F172A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476250" y="2143125"/>
              <a:ext cx="57300" cy="4764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714375" y="2143125"/>
              <a:ext cx="476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MLOps</a:t>
              </a:r>
              <a:endParaRPr b="0" sz="15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476250" y="2762250"/>
              <a:ext cx="5238900" cy="476400"/>
            </a:xfrm>
            <a:prstGeom prst="roundRect">
              <a:avLst>
                <a:gd fmla="val 16000" name="adj"/>
              </a:avLst>
            </a:prstGeom>
            <a:solidFill>
              <a:srgbClr val="0F172A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476250" y="2762250"/>
              <a:ext cx="57300" cy="4764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714375" y="2762250"/>
              <a:ext cx="476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Software Engineering</a:t>
              </a:r>
              <a:endParaRPr b="0" sz="15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476250" y="3381375"/>
              <a:ext cx="5238900" cy="476400"/>
            </a:xfrm>
            <a:prstGeom prst="roundRect">
              <a:avLst>
                <a:gd fmla="val 16000" name="adj"/>
              </a:avLst>
            </a:prstGeom>
            <a:solidFill>
              <a:srgbClr val="0F172A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476250" y="3381375"/>
              <a:ext cx="57300" cy="4764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714375" y="3381375"/>
              <a:ext cx="476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Applied Research</a:t>
              </a:r>
              <a:endParaRPr b="0" sz="15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grpSp>
        <p:nvGrpSpPr>
          <p:cNvPr id="227" name="Google Shape;227;p20"/>
          <p:cNvGrpSpPr/>
          <p:nvPr/>
        </p:nvGrpSpPr>
        <p:grpSpPr>
          <a:xfrm>
            <a:off x="476250" y="4095750"/>
            <a:ext cx="5238900" cy="2190900"/>
            <a:chOff x="476250" y="4095750"/>
            <a:chExt cx="5238900" cy="2190900"/>
          </a:xfrm>
        </p:grpSpPr>
        <p:sp>
          <p:nvSpPr>
            <p:cNvPr id="228" name="Google Shape;228;p20"/>
            <p:cNvSpPr/>
            <p:nvPr/>
          </p:nvSpPr>
          <p:spPr>
            <a:xfrm>
              <a:off x="476250" y="4095750"/>
              <a:ext cx="5238900" cy="2190900"/>
            </a:xfrm>
            <a:prstGeom prst="roundRect">
              <a:avLst>
                <a:gd fmla="val 5217" name="adj"/>
              </a:avLst>
            </a:prstGeom>
            <a:solidFill>
              <a:srgbClr val="7F1D1D">
                <a:alpha val="15000"/>
              </a:srgbClr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476250" y="4095750"/>
              <a:ext cx="57300" cy="2190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0"/>
            <p:cNvSpPr txBox="1"/>
            <p:nvPr/>
          </p:nvSpPr>
          <p:spPr>
            <a:xfrm>
              <a:off x="762000" y="4286250"/>
              <a:ext cx="4667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CA5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Sociological Failure</a:t>
              </a:r>
              <a:endParaRPr b="1" sz="1800">
                <a:solidFill>
                  <a:srgbClr val="FCA5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It completely failed to capture legacy BI roles and corporate-specific archetypes found in the real world.</a:t>
              </a:r>
              <a:endParaRPr b="0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1" name="Google Shape;231;p20"/>
          <p:cNvGrpSpPr/>
          <p:nvPr/>
        </p:nvGrpSpPr>
        <p:grpSpPr>
          <a:xfrm>
            <a:off x="6096000" y="1476375"/>
            <a:ext cx="5619900" cy="4810200"/>
            <a:chOff x="6096000" y="1476375"/>
            <a:chExt cx="5619900" cy="4810200"/>
          </a:xfrm>
        </p:grpSpPr>
        <p:sp>
          <p:nvSpPr>
            <p:cNvPr id="232" name="Google Shape;232;p20"/>
            <p:cNvSpPr/>
            <p:nvPr/>
          </p:nvSpPr>
          <p:spPr>
            <a:xfrm>
              <a:off x="6096000" y="1476375"/>
              <a:ext cx="5619900" cy="4810200"/>
            </a:xfrm>
            <a:prstGeom prst="roundRect">
              <a:avLst>
                <a:gd fmla="val 3168" name="adj"/>
              </a:avLst>
            </a:prstGeom>
            <a:solidFill>
              <a:srgbClr val="0F172A">
                <a:alpha val="5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0"/>
            <p:cNvSpPr txBox="1"/>
            <p:nvPr/>
          </p:nvSpPr>
          <p:spPr>
            <a:xfrm>
              <a:off x="6477000" y="1857375"/>
              <a:ext cx="4857900" cy="40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Idealized &amp; Sanitized Market</a:t>
              </a:r>
              <a:endParaRPr b="0" sz="24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21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LLM-generated dataset represents an idealized, sanitized version of the future market.</a:t>
              </a:r>
              <a:endParaRPr b="0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While predicting technical shifts,</a:t>
              </a:r>
              <a:r>
                <a:rPr b="0"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it ignores the messy reality where advanced AI architects coexist with traditional analysts in organic structures.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804725"/>
            <a:ext cx="11239500" cy="457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476250" y="1600200"/>
            <a:ext cx="8315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Spatial operationalization revealed a profound divergence in geopolitical labor organization.</a:t>
            </a:r>
            <a:endParaRPr/>
          </a:p>
        </p:txBody>
      </p:sp>
      <p:grpSp>
        <p:nvGrpSpPr>
          <p:cNvPr id="241" name="Google Shape;241;p21"/>
          <p:cNvGrpSpPr/>
          <p:nvPr/>
        </p:nvGrpSpPr>
        <p:grpSpPr>
          <a:xfrm>
            <a:off x="476250" y="4143375"/>
            <a:ext cx="11510850" cy="1455375"/>
            <a:chOff x="476250" y="3667125"/>
            <a:chExt cx="11510850" cy="1455375"/>
          </a:xfrm>
        </p:grpSpPr>
        <p:sp>
          <p:nvSpPr>
            <p:cNvPr id="242" name="Google Shape;242;p21"/>
            <p:cNvSpPr txBox="1"/>
            <p:nvPr/>
          </p:nvSpPr>
          <p:spPr>
            <a:xfrm>
              <a:off x="476250" y="3667125"/>
              <a:ext cx="5700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38BDF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Organic Reality</a:t>
              </a:r>
              <a:endParaRPr b="1">
                <a:solidFill>
                  <a:srgbClr val="38BDF8"/>
                </a:solidFill>
              </a:endParaRPr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476250" y="4152900"/>
              <a:ext cx="54294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Heavily anchored to physical clusters (US, UK, Germany). Real-world AI deployment is bound to corporate headquarters and regional hubs.</a:t>
              </a:r>
              <a:endParaRPr/>
            </a:p>
          </p:txBody>
        </p:sp>
        <p:sp>
          <p:nvSpPr>
            <p:cNvPr id="244" name="Google Shape;244;p21"/>
            <p:cNvSpPr txBox="1"/>
            <p:nvPr/>
          </p:nvSpPr>
          <p:spPr>
            <a:xfrm>
              <a:off x="6286500" y="3667125"/>
              <a:ext cx="5700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38BDF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Synthetic Fantasy</a:t>
              </a:r>
              <a:endParaRPr b="1">
                <a:solidFill>
                  <a:srgbClr val="38BDF8"/>
                </a:solidFill>
              </a:endParaRPr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6286500" y="4152900"/>
              <a:ext cx="54294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Projects a frictionless utopia decoupling cognitive labor from geography, masking persistent technocratic centralization.</a:t>
              </a:r>
              <a:endParaRPr/>
            </a:p>
          </p:txBody>
        </p:sp>
      </p:grpSp>
      <p:sp>
        <p:nvSpPr>
          <p:cNvPr id="246" name="Google Shape;246;p21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Geographic Reality vs. Remote Utopia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476250" y="1200150"/>
            <a:ext cx="11239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600200"/>
            <a:ext cx="11239500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552825"/>
            <a:ext cx="11239500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752475" y="1838325"/>
            <a:ext cx="112614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Inequality of High-Cognitive Labor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752475" y="2324100"/>
            <a:ext cx="10725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Digital literacy is no longer a monolithic metric for social mobility. The market aggressively rewards the technocratic elite (MLOps) while marginalizing traditional, descriptive analytics roles facing automation.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752475" y="3790950"/>
            <a:ext cx="112614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Epistemological Crisis in Digital Sociology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752475" y="4276725"/>
            <a:ext cx="10725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Synthetic datasets construct a double illusion: wage flattening and borderless workforce. Uncritical reliance on massive open-source repositories risks theorizing about computational simulations rather than actual human behavior.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Discussion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476250" y="1200150"/>
            <a:ext cx="11239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Conclusion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476250" y="1200150"/>
            <a:ext cx="112395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6" name="Google Shape;266;p23"/>
          <p:cNvGrpSpPr/>
          <p:nvPr/>
        </p:nvGrpSpPr>
        <p:grpSpPr>
          <a:xfrm>
            <a:off x="476250" y="1714500"/>
            <a:ext cx="11239650" cy="4381500"/>
            <a:chOff x="476250" y="1714500"/>
            <a:chExt cx="11239650" cy="4381500"/>
          </a:xfrm>
        </p:grpSpPr>
        <p:sp>
          <p:nvSpPr>
            <p:cNvPr id="267" name="Google Shape;267;p23"/>
            <p:cNvSpPr/>
            <p:nvPr/>
          </p:nvSpPr>
          <p:spPr>
            <a:xfrm>
              <a:off x="476250" y="1714500"/>
              <a:ext cx="3486300" cy="4381500"/>
            </a:xfrm>
            <a:prstGeom prst="roundRect">
              <a:avLst>
                <a:gd fmla="val 3278" name="adj"/>
              </a:avLst>
            </a:prstGeom>
            <a:solidFill>
              <a:srgbClr val="0F172A">
                <a:alpha val="5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3"/>
            <p:cNvSpPr/>
            <p:nvPr/>
          </p:nvSpPr>
          <p:spPr>
            <a:xfrm>
              <a:off x="761925" y="1714500"/>
              <a:ext cx="2914800" cy="57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3"/>
            <p:cNvSpPr txBox="1"/>
            <p:nvPr/>
          </p:nvSpPr>
          <p:spPr>
            <a:xfrm>
              <a:off x="762000" y="2000250"/>
              <a:ext cx="29148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 sz="32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Structural Fracture</a:t>
              </a:r>
              <a:endParaRPr b="0" sz="20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market is shifting away from the monolithic "Data Scientist" to fracture into hyper-specialized archetypes, contrasting advanced AI architects against a data proletariat.</a:t>
              </a:r>
              <a:endParaRPr b="0"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0" name="Google Shape;270;p23"/>
            <p:cNvSpPr/>
            <p:nvPr/>
          </p:nvSpPr>
          <p:spPr>
            <a:xfrm>
              <a:off x="4352925" y="1714500"/>
              <a:ext cx="3486300" cy="4381500"/>
            </a:xfrm>
            <a:prstGeom prst="roundRect">
              <a:avLst>
                <a:gd fmla="val 3278" name="adj"/>
              </a:avLst>
            </a:prstGeom>
            <a:solidFill>
              <a:srgbClr val="0F172A">
                <a:alpha val="5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3"/>
            <p:cNvSpPr txBox="1"/>
            <p:nvPr/>
          </p:nvSpPr>
          <p:spPr>
            <a:xfrm>
              <a:off x="4638675" y="2000250"/>
              <a:ext cx="29148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architecture</a:t>
              </a:r>
              <a:endParaRPr sz="32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Architecture as Status</a:t>
              </a:r>
              <a:endParaRPr b="0" sz="20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Digital literacy alone no longer guarantees social mobility. A worker's socio-economic positioning is now dictated by the specific technological architecture they master.</a:t>
              </a:r>
              <a:endParaRPr b="0"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2" name="Google Shape;272;p23"/>
            <p:cNvSpPr/>
            <p:nvPr/>
          </p:nvSpPr>
          <p:spPr>
            <a:xfrm>
              <a:off x="8229600" y="1714500"/>
              <a:ext cx="3486300" cy="4381500"/>
            </a:xfrm>
            <a:prstGeom prst="roundRect">
              <a:avLst>
                <a:gd fmla="val 3278" name="adj"/>
              </a:avLst>
            </a:prstGeom>
            <a:solidFill>
              <a:srgbClr val="0F172A">
                <a:alpha val="5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3"/>
            <p:cNvSpPr/>
            <p:nvPr/>
          </p:nvSpPr>
          <p:spPr>
            <a:xfrm>
              <a:off x="8515350" y="1714500"/>
              <a:ext cx="2914800" cy="57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3"/>
            <p:cNvSpPr txBox="1"/>
            <p:nvPr/>
          </p:nvSpPr>
          <p:spPr>
            <a:xfrm>
              <a:off x="8515350" y="2000250"/>
              <a:ext cx="29148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grain</a:t>
              </a:r>
              <a:endParaRPr sz="32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Organic Frictions</a:t>
              </a:r>
              <a:endParaRPr b="0" sz="20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To fully comprehend AI's impact, social science must resist the allure of sanitized datasets and actively investigate the messy, localized, and unequal realities of the workforce.</a:t>
              </a:r>
              <a:endParaRPr b="0"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5" name="Google Shape;275;p23"/>
            <p:cNvSpPr/>
            <p:nvPr/>
          </p:nvSpPr>
          <p:spPr>
            <a:xfrm>
              <a:off x="4638675" y="1714500"/>
              <a:ext cx="2914800" cy="57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Bibliography</a:t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476250" y="1200150"/>
            <a:ext cx="112395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p24"/>
          <p:cNvGrpSpPr/>
          <p:nvPr/>
        </p:nvGrpSpPr>
        <p:grpSpPr>
          <a:xfrm>
            <a:off x="476250" y="1619250"/>
            <a:ext cx="11239500" cy="1809600"/>
            <a:chOff x="476250" y="1619250"/>
            <a:chExt cx="11239500" cy="1809600"/>
          </a:xfrm>
        </p:grpSpPr>
        <p:sp>
          <p:nvSpPr>
            <p:cNvPr id="284" name="Google Shape;284;p24"/>
            <p:cNvSpPr/>
            <p:nvPr/>
          </p:nvSpPr>
          <p:spPr>
            <a:xfrm>
              <a:off x="476250" y="1619250"/>
              <a:ext cx="11239500" cy="1809600"/>
            </a:xfrm>
            <a:prstGeom prst="roundRect">
              <a:avLst>
                <a:gd fmla="val 6315" name="adj"/>
              </a:avLst>
            </a:prstGeom>
            <a:solidFill>
              <a:srgbClr val="0F172A">
                <a:alpha val="5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4"/>
            <p:cNvSpPr txBox="1"/>
            <p:nvPr/>
          </p:nvSpPr>
          <p:spPr>
            <a:xfrm>
              <a:off x="857250" y="1809750"/>
              <a:ext cx="10477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Dataset A</a:t>
              </a:r>
              <a:endParaRPr b="1" sz="11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Social Research LinkedIn Market Analysis Repository</a:t>
              </a:r>
              <a:endParaRPr b="0" sz="20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Mergoni, A. (2026). Kaggle Code.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URL:</a:t>
              </a:r>
              <a:r>
                <a:rPr lang="en-US" sz="1200" u="sng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https://www.kaggle.com/code/albertomergoni/social-research-mergoni</a:t>
              </a:r>
              <a:endParaRPr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6" name="Google Shape;286;p24"/>
          <p:cNvGrpSpPr/>
          <p:nvPr/>
        </p:nvGrpSpPr>
        <p:grpSpPr>
          <a:xfrm>
            <a:off x="476250" y="3708925"/>
            <a:ext cx="11239500" cy="1809600"/>
            <a:chOff x="476250" y="3714750"/>
            <a:chExt cx="11239500" cy="1809600"/>
          </a:xfrm>
        </p:grpSpPr>
        <p:sp>
          <p:nvSpPr>
            <p:cNvPr id="287" name="Google Shape;287;p24"/>
            <p:cNvSpPr/>
            <p:nvPr/>
          </p:nvSpPr>
          <p:spPr>
            <a:xfrm>
              <a:off x="476250" y="3714750"/>
              <a:ext cx="11239500" cy="1809600"/>
            </a:xfrm>
            <a:prstGeom prst="roundRect">
              <a:avLst>
                <a:gd fmla="val 6315" name="adj"/>
              </a:avLst>
            </a:prstGeom>
            <a:solidFill>
              <a:srgbClr val="0F172A">
                <a:alpha val="5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4"/>
            <p:cNvSpPr txBox="1"/>
            <p:nvPr/>
          </p:nvSpPr>
          <p:spPr>
            <a:xfrm>
              <a:off x="857250" y="3905250"/>
              <a:ext cx="10477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Dataset B</a:t>
              </a:r>
              <a:endParaRPr b="1" sz="11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Social Research 2026 Standardized Forecast Repository</a:t>
              </a:r>
              <a:endParaRPr b="0" sz="20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Mergoni, A. (2026). Kaggle Code.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URL:</a:t>
              </a:r>
              <a:r>
                <a:rPr lang="en-US" sz="1200" u="sng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https://www.kaggle.com/code/albertomergoni/social-research-mergoni-std</a:t>
              </a:r>
              <a:endParaRPr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